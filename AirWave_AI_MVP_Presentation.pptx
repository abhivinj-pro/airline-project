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9" r:id="rId10"/>
    <p:sldId id="268" r:id="rId11"/>
    <p:sldId id="263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 snapToObjects="1">
      <p:cViewPr>
        <p:scale>
          <a:sx n="107" d="100"/>
          <a:sy n="107" d="100"/>
        </p:scale>
        <p:origin x="76" y="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FF"/>
                </a:solidFill>
                <a:latin typeface="Calibri"/>
              </a:defRPr>
            </a:pPr>
            <a:r>
              <a:t>AirWave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Booking Recovery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566160"/>
            <a:ext cx="2743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AI-powered </a:t>
            </a:r>
            <a:r>
              <a:rPr lang="en-IN" dirty="0"/>
              <a:t>solution</a:t>
            </a:r>
            <a:r>
              <a:rPr dirty="0"/>
              <a:t> for airline direct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MVP Technical </a:t>
            </a:r>
            <a:r>
              <a:rPr dirty="0" err="1"/>
              <a:t>Overvie</a:t>
            </a:r>
            <a:r>
              <a:rPr lang="en-IN" dirty="0"/>
              <a:t>w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Airlines Are Bleeding Revenue at Checkout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Booking sessions abandoned before payment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50,000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Abandoned sessions / month (per 100K starts)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Calibri"/>
              </a:defRPr>
            </a:pPr>
            <a:r>
              <a:t>INR 60Cr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Annual gross booking value at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happens when users abandon: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058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rPr sz="1700" dirty="0">
                <a:solidFill>
                  <a:srgbClr val="EF4444"/>
                </a:solidFill>
                <a:latin typeface="Calibri"/>
              </a:rPr>
              <a:t>▸  </a:t>
            </a:r>
            <a:r>
              <a:rPr sz="1700" dirty="0">
                <a:solidFill>
                  <a:srgbClr val="CBD5E1"/>
                </a:solidFill>
                <a:latin typeface="Calibri"/>
              </a:rPr>
              <a:t>Lost direct revenue — users book through OTAs or competitors instead</a:t>
            </a:r>
          </a:p>
          <a:p>
            <a:pPr>
              <a:spcAft>
                <a:spcPts val="800"/>
              </a:spcAft>
            </a:pPr>
            <a:r>
              <a:rPr sz="1700" dirty="0">
                <a:solidFill>
                  <a:srgbClr val="EF4444"/>
                </a:solidFill>
                <a:latin typeface="Calibri"/>
              </a:rPr>
              <a:t>▸  </a:t>
            </a:r>
            <a:r>
              <a:rPr sz="1700" dirty="0">
                <a:solidFill>
                  <a:srgbClr val="CBD5E1"/>
                </a:solidFill>
                <a:latin typeface="Calibri"/>
              </a:rPr>
              <a:t>High commission costs — offline agents and aggregators capture the booking</a:t>
            </a:r>
          </a:p>
          <a:p>
            <a:pPr>
              <a:spcAft>
                <a:spcPts val="800"/>
              </a:spcAft>
            </a:pPr>
            <a:r>
              <a:rPr sz="1700" dirty="0">
                <a:solidFill>
                  <a:srgbClr val="EF4444"/>
                </a:solidFill>
                <a:latin typeface="Calibri"/>
              </a:rPr>
              <a:t>▸  </a:t>
            </a:r>
            <a:r>
              <a:rPr sz="1700" dirty="0">
                <a:solidFill>
                  <a:srgbClr val="CBD5E1"/>
                </a:solidFill>
                <a:latin typeface="Calibri"/>
              </a:rPr>
              <a:t>Missed ancillary revenue — no cross-sell of seats, or insurance</a:t>
            </a:r>
          </a:p>
          <a:p>
            <a:pPr>
              <a:spcAft>
                <a:spcPts val="800"/>
              </a:spcAft>
            </a:pPr>
            <a:r>
              <a:rPr sz="1700" dirty="0">
                <a:solidFill>
                  <a:srgbClr val="EF4444"/>
                </a:solidFill>
                <a:latin typeface="Calibri"/>
              </a:rPr>
              <a:t>▸  </a:t>
            </a:r>
            <a:r>
              <a:rPr sz="1700" dirty="0">
                <a:solidFill>
                  <a:srgbClr val="CBD5E1"/>
                </a:solidFill>
                <a:latin typeface="Calibri"/>
              </a:rPr>
              <a:t>No visibility into why users leave — no data to improve the funnel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3-Pillar AI Recovery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8637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Behavioral Abandonment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92056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Client-side tracker monitors 10+ real-time signals — idle time, back button, tab switches, rapid clicks, price hovering, form fatigue — weighted by booking step. Composite risk score triggers tiered interventions.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09160" y="22860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98637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Proactive AI Chat Concierge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656605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Azure OpenAI-powered assistant engages users when risk score crosses thresholds. Context-aware: knows the flight, price, funnel step, and specific trigger signals. Adapts tone from friendly nudge (0.45+) to urgent save (0.80+).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0" y="22860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8107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Smart Recovery Campaigns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656605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For users who already left: AI generates personalized email/SMS with flight details, seat scarcity, and deep links back to their saved session. Users resume exactly where they stopped — all details pre-filled.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PILLAR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Real-Time Behavioral Abandonment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377440" y="1920240"/>
            <a:ext cx="3657600" cy="320040"/>
          </a:xfrm>
          <a:prstGeom prst="roundRect">
            <a:avLst>
              <a:gd name="adj" fmla="val 15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idle_60s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395728"/>
            <a:ext cx="2612571" cy="320040"/>
          </a:xfrm>
          <a:prstGeom prst="roundRect">
            <a:avLst>
              <a:gd name="adj" fmla="val 15000"/>
            </a:avLst>
          </a:prstGeom>
          <a:solidFill>
            <a:srgbClr val="0F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back_button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871216"/>
            <a:ext cx="2090057" cy="320040"/>
          </a:xfrm>
          <a:prstGeom prst="roundRect">
            <a:avLst>
              <a:gd name="adj" fmla="val 15000"/>
            </a:avLst>
          </a:prstGeom>
          <a:solidFill>
            <a:srgbClr val="1FA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712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idle_30s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3346704"/>
            <a:ext cx="1567542" cy="320040"/>
          </a:xfrm>
          <a:prstGeom prst="roundRect">
            <a:avLst>
              <a:gd name="adj" fmla="val 15000"/>
            </a:avLst>
          </a:prstGeom>
          <a:solidFill>
            <a:srgbClr val="2E9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4670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mouse_leave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822192"/>
            <a:ext cx="1254034" cy="320040"/>
          </a:xfrm>
          <a:prstGeom prst="roundRect">
            <a:avLst>
              <a:gd name="adj" fmla="val 15000"/>
            </a:avLst>
          </a:prstGeom>
          <a:solidFill>
            <a:srgbClr val="3E8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221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tab_switch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4297680"/>
            <a:ext cx="1045028" cy="320040"/>
          </a:xfrm>
          <a:prstGeom prst="roundRect">
            <a:avLst>
              <a:gd name="adj" fmla="val 15000"/>
            </a:avLst>
          </a:prstGeom>
          <a:solidFill>
            <a:srgbClr val="4D7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form_delete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773168"/>
            <a:ext cx="836022" cy="320040"/>
          </a:xfrm>
          <a:prstGeom prst="roundRect">
            <a:avLst>
              <a:gd name="adj" fmla="val 15000"/>
            </a:avLst>
          </a:prstGeom>
          <a:solidFill>
            <a:srgbClr val="5D6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scroll_top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5248656"/>
            <a:ext cx="627017" cy="320040"/>
          </a:xfrm>
          <a:prstGeom prst="roundRect">
            <a:avLst>
              <a:gd name="adj" fmla="val 15000"/>
            </a:avLst>
          </a:prstGeom>
          <a:solidFill>
            <a:srgbClr val="6C4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486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rapid_clicks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5724144"/>
            <a:ext cx="522514" cy="32004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24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price_hover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rPr sz="1500">
                <a:solidFill>
                  <a:srgbClr val="00D4FF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Signals are weighted and combined into a composite risk score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4FF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Booking step acts as a multiplier — later steps = higher intent = higher recovery priority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4FF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Three intervention thresholds: 0.45 (nudge), 0.65 (assist), 0.80 (urgent save)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4FF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MVP uses heuristic weights; production would use a supervised ML model trained on historical funnel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PILLAR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Proactive AI Chat Concierge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45920" cy="41148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Score 0.45+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Friendly Nudge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Calibri"/>
              </a:defRPr>
            </a:pPr>
            <a:r>
              <a:t>"Need help finding the right flight?"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Low-pressure engagement to offer assistance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1645920" cy="41148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Score 0.65+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Active Assist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Calibri"/>
              </a:defRPr>
            </a:pPr>
            <a:r>
              <a:t>"I noticed you're on passenger details — can I help?"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Context-specific help based on funnel step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645920" cy="41148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Score 0.80+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Urgent 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Calibri"/>
              </a:defRPr>
            </a:pPr>
            <a:r>
              <a:t>"Your booking is saved! Want me to help complete it?"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Maximum effort to retain high-intent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Context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56032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rPr sz="14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CBD5E1"/>
                </a:solidFill>
                <a:latin typeface="Calibri"/>
              </a:rPr>
              <a:t>Flight route, airline, and price selected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CBD5E1"/>
                </a:solidFill>
                <a:latin typeface="Calibri"/>
              </a:rPr>
              <a:t>Current booking funnel step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CBD5E1"/>
                </a:solidFill>
                <a:latin typeface="Calibri"/>
              </a:rPr>
              <a:t>Which behavioral signals triggered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CBD5E1"/>
                </a:solidFill>
                <a:latin typeface="Calibri"/>
              </a:rPr>
              <a:t>Price sensitivity vs. form fatigue vs. comparison shopping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CBD5E1"/>
                </a:solidFill>
                <a:latin typeface="Calibri"/>
              </a:rPr>
              <a:t>Adapts tone and strategy per user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PILLAR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Smart Recovery Campaigns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EMAIL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Sample Personalized Recovery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Calibri"/>
              </a:defRPr>
            </a:pPr>
            <a:r>
              <a:t>"Your Dubai flight at INR 32,000 is still available"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4389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rPr dirty="0"/>
              <a:t>&gt;  DEL → DXB  |  AI-205  |  </a:t>
            </a:r>
            <a:r>
              <a:rPr lang="en-IN" dirty="0"/>
              <a:t>May</a:t>
            </a:r>
            <a:r>
              <a:rPr dirty="0"/>
              <a:t> 15, 2026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4389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rPr dirty="0"/>
              <a:t>INR 32,000  |  Only 3 seats left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26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Deep link back to saved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46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All passenger details pre-filled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166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One-click resume to payment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Campaign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AI generates each message from the specific customer journey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Personalized with route, price, scarcity, and timing signals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Multi-channel: Email for detail-rich, SMS for urgency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Deep links restore full session state — zero re-entry friction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Targets only high-intent, contactable abandoners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AirWave AI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Real-Time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10+ behavioral signals scored in real-time to catch abandonment before it happens — not after.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63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AI-Powered, Context-Aware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The concierge knows the flight, the price, the step, and the reason for hesitation. It adapts — not a scripted chatbot.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Recover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Personalized multi-channel campaigns with deep links that restore full session state. Zero friction re-entry.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303519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257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Measurable Revenue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6692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Estimated INR 6.5M+/month in recovered bookings. Recovery campaigns alone deliver ~4.8x more than price lock.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4FF"/>
                </a:solidFill>
                <a:latin typeface="Calibri"/>
              </a:defRPr>
            </a:pPr>
            <a:r>
              <a:t>"A 4-hour price lock is a useful conversion aid, but the larger revenue upside comes from recovering abandoned bookings at scale through proactive chat and post-abandonment outreach."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AEC53-5733-DCFE-23CA-D7B1D518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569953-731C-E2C7-4214-5B4F870C2F85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92D751-8186-405A-87BD-47D14048C0B3}"/>
              </a:ext>
            </a:extLst>
          </p:cNvPr>
          <p:cNvSpPr txBox="1"/>
          <p:nvPr/>
        </p:nvSpPr>
        <p:spPr>
          <a:xfrm>
            <a:off x="1371600" y="1645920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FF"/>
                </a:solidFill>
                <a:latin typeface="Calibri"/>
              </a:defRPr>
            </a:pPr>
            <a:r>
              <a:rPr lang="en-IN" dirty="0"/>
              <a:t>DEMO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507130-8464-3392-40A8-8A22E2056A5A}"/>
              </a:ext>
            </a:extLst>
          </p:cNvPr>
          <p:cNvSpPr txBox="1"/>
          <p:nvPr/>
        </p:nvSpPr>
        <p:spPr>
          <a:xfrm>
            <a:off x="1371600" y="2651760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lang="en-IN" dirty="0" err="1"/>
              <a:t>AirWave</a:t>
            </a:r>
            <a:r>
              <a:rPr lang="en-IN" dirty="0"/>
              <a:t> </a:t>
            </a:r>
            <a:r>
              <a:rPr dirty="0"/>
              <a:t>Booking Recovery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14455-1C4F-28F3-CBC0-7227543EF47A}"/>
              </a:ext>
            </a:extLst>
          </p:cNvPr>
          <p:cNvSpPr/>
          <p:nvPr/>
        </p:nvSpPr>
        <p:spPr>
          <a:xfrm>
            <a:off x="1371600" y="3566160"/>
            <a:ext cx="2743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55229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10B981"/>
                </a:solidFill>
                <a:latin typeface="Calibr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Estimated Impact of Booking-Recovery Campaigns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1298074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0B981"/>
                </a:solidFill>
                <a:latin typeface="Calibr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High-intent and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contactable users /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423160" cy="1298074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044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59E0B"/>
                </a:solidFill>
                <a:latin typeface="Calibr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Recovery rate across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email, SMS, and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423160" cy="12573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00D4FF"/>
                </a:solidFill>
                <a:latin typeface="Calibr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Incremental recovered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79" y="1828800"/>
            <a:ext cx="242316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98279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INR 5.40M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Estimated gross booking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recovered / 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4754880" cy="24003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" y="3520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30% of abandoned sessions are high-intent and contactable → 15,000 users/month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Email, SMS, and chat journeys recover 3% of that audience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Recovered bookings: 15,000 x 3% = 450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Average booking value = INR 12,000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Recovered gross booking value: 450 x INR 12,000 = INR 5,400,000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337560"/>
            <a:ext cx="5577840" cy="21031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Campaigns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88620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Campaigns reach a larger portion of abandoners than fare-lock offers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address distraction, form fatigue, comparison shopping, payment hesitation, and delayed decisions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compound with saved sessions, proactive chat, and deep-link resume 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29300"/>
            <a:ext cx="10515600" cy="685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59207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Interpretation: campaigns produce materially larger revenue impact because they address a broader set of abandonment causes across a much larger reachable audience.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00D4FF"/>
                </a:solidFill>
                <a:latin typeface="Calibr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Estimated Impact of a 4-Hour Price 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1325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00D4FF"/>
                </a:solidFill>
                <a:latin typeface="Calibr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Strong-candidate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abandoners /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423160" cy="1316736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044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59E0B"/>
                </a:solidFill>
                <a:latin typeface="Calibr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Users accepting or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responding to offer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42316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0B981"/>
                </a:solidFill>
                <a:latin typeface="Calibr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Incremental recovered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79" y="1828800"/>
            <a:ext cx="246888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98279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INR 1.13M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 expected monthly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revenue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4663440" cy="21031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" y="3520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20% of abandoners qualify for a 4-hour fare hold → 10,000 users/month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8% accept or meaningfully respond → 800 treated users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Baseline conversion for this subgroup = 20% → 160 bookings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Price lock adds 12 percentage points → 32% treated conversion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Average booking value = INR 12,000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337560"/>
            <a:ext cx="5577840" cy="21031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Expected-Value 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9136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E(RevenueChange) = Revenue increase from recovered bookings - Locked-fare downside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2611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CBD5E1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Recovered revenue: 96 x INR 12,000 = INR 1,152,000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6085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CBD5E1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Fare-lock downside: 160 x (15% x INR 1,000) = INR 24,000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9560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0B981"/>
                </a:solidFill>
                <a:latin typeface="Calibri"/>
              </a:defRPr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 monthly expected value: INR 1,152,000 - INR 24,000 = INR 1,128,000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23560"/>
            <a:ext cx="10515600" cy="685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" y="5797296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Interpretation: under these assumptions, the 4-hour price lock has a strongly positive expected value. The upside from 96 incremental recovered bookings materially outweighs the expected fare movement given up on bookings that would likely have happened anyway.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Estimated Revenue Recovery (Illustrative)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alibri"/>
              </a:defRPr>
            </a:pPr>
            <a:r>
              <a:t>100K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Monthly booking</a:t>
            </a:r>
            <a:br/>
            <a:r>
              <a:t>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01168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Abandonment</a:t>
            </a:r>
            <a:br/>
            <a:r>
              <a:t>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alibri"/>
              </a:defRPr>
            </a:pPr>
            <a:r>
              <a:t>INR 12K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Average booking</a:t>
            </a:r>
            <a:br/>
            <a:r>
              <a:t>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79" y="201168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79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alibri"/>
              </a:defRPr>
            </a:pPr>
            <a:r>
              <a:t>50K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Abandoned sessions</a:t>
            </a:r>
            <a:br/>
            <a:r>
              <a:t>per 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5029200" cy="29260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Recovery Campaigns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0B981"/>
                </a:solidFill>
                <a:latin typeface="Calibri"/>
              </a:defRPr>
            </a:pPr>
            <a:r>
              <a:t>INR 5.4M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15,000 high-intent contactable abandoners targeted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3% campaign conversion rate → 450 recovered bookings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Addresses broad abandonment causes at 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029200" cy="29260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4-Hour Price 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  <a:latin typeface="Calibri"/>
              </a:defRPr>
            </a:pPr>
            <a:r>
              <a:t>INR 1.13M /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rPr sz="1300">
                <a:solidFill>
                  <a:srgbClr val="00D4FF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10,000 price-sensitive high-intent users targeted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96 incremental bookings (12pp conversion lift)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Net positive after accounting for fare-lock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Combined estimated recovery:  INR 6.53M/month  |  ~INR 78M/year  |  4.8x more impact from campaigns vs. price lock alone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AI-Powered Retention: Beyond the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4114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228600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Highest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346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Abandonment Reason</a:t>
            </a:r>
            <a:br/>
            <a: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118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AI classifies why users leave — price, schedule, policy, trust, payment, or delay — so interventions match the real objection, not just the risk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03120"/>
            <a:ext cx="3383280" cy="4114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63440" y="228600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AI Timing &amp; Channel</a:t>
            </a:r>
            <a:br/>
            <a:r>
              <a:t>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Predicts optimal send time, cadence, and channel (email vs. SMS vs. chat) per abandoner. Fewer, better-timed interventions outperform blanket reminders.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3502</TotalTime>
  <Words>1260</Words>
  <Application>Microsoft Office PowerPoint</Application>
  <PresentationFormat>Widescreen</PresentationFormat>
  <Paragraphs>178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Vinjamoori</cp:lastModifiedBy>
  <cp:revision>3</cp:revision>
  <dcterms:created xsi:type="dcterms:W3CDTF">2013-01-27T09:14:16Z</dcterms:created>
  <dcterms:modified xsi:type="dcterms:W3CDTF">2026-04-20T07:24:55Z</dcterms:modified>
  <cp:category/>
</cp:coreProperties>
</file>