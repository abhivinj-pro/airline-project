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4FF"/>
                </a:solidFill>
                <a:latin typeface="Calibri"/>
              </a:defRPr>
            </a:pPr>
            <a:r>
              <a:t>AirWave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Booking Recovery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566160"/>
            <a:ext cx="2743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AI-powered abandonment detection and real-time recovery for airline direct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MVP Technical Overview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Airlines Are Bleeding Revenue at Checkout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286000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Booking sessions abandoned before payment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240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50,000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Abandoned sessions / month (per 100K starts)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240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  <a:latin typeface="Calibri"/>
              </a:defRPr>
            </a:pPr>
            <a:r>
              <a:t>INR 60Cr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Annual gross booking value at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What happens when users abandon: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F4444"/>
                </a:solidFill>
                <a:latin typeface="Calibri"/>
              </a:rPr>
              <a:t>▸  </a:t>
            </a:r>
            <a:r>
              <a:rPr sz="1700">
                <a:solidFill>
                  <a:srgbClr val="CBD5E1"/>
                </a:solidFill>
                <a:latin typeface="Calibri"/>
              </a:rPr>
              <a:t>Lost direct revenue — users book through OTAs or competitors instead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F4444"/>
                </a:solidFill>
                <a:latin typeface="Calibri"/>
              </a:rPr>
              <a:t>▸  </a:t>
            </a:r>
            <a:r>
              <a:rPr sz="1700">
                <a:solidFill>
                  <a:srgbClr val="CBD5E1"/>
                </a:solidFill>
                <a:latin typeface="Calibri"/>
              </a:rPr>
              <a:t>High commission costs — offline agents and aggregators capture the booking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F4444"/>
                </a:solidFill>
                <a:latin typeface="Calibri"/>
              </a:rPr>
              <a:t>▸  </a:t>
            </a:r>
            <a:r>
              <a:rPr sz="1700">
                <a:solidFill>
                  <a:srgbClr val="CBD5E1"/>
                </a:solidFill>
                <a:latin typeface="Calibri"/>
              </a:rPr>
              <a:t>Missed ancillary revenue — no cross-sell of seats, bags, meals, or insurance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F4444"/>
                </a:solidFill>
                <a:latin typeface="Calibri"/>
              </a:rPr>
              <a:t>▸  </a:t>
            </a:r>
            <a:r>
              <a:rPr sz="1700">
                <a:solidFill>
                  <a:srgbClr val="CBD5E1"/>
                </a:solidFill>
                <a:latin typeface="Calibri"/>
              </a:rPr>
              <a:t>No visibility into why users leave — no data to improve the funnel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3-Pillar AI Recovery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28600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Behavioral Abandonment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Client-side tracker monitors 10+ real-time signals — idle time, back button, tab switches, rapid clicks, price hovering, form fatigue — weighted by booking step. Composite risk score triggers tiered interventions.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1168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09160" y="22860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Proactive AI Chat Concierge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5661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Azure OpenAI-powered assistant engages users when risk score crosses thresholds. Context-aware: knows the flight, price, funnel step, and specific trigger signals. Adapts tone from friendly nudge (0.45+) to urgent save (0.80+).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0" y="228600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Smart Recovery Campaigns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5661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For users who already left: AI generates personalized email/SMS with flight details, seat scarcity, and deep links back to their saved session. Users resume exactly where they stopped — all details pre-filled.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PILLAR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Real-Time Behavioral Abandonment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77440" y="1920240"/>
            <a:ext cx="3657600" cy="320040"/>
          </a:xfrm>
          <a:prstGeom prst="roundRect">
            <a:avLst>
              <a:gd name="adj" fmla="val 15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idle_60s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395728"/>
            <a:ext cx="2612571" cy="320040"/>
          </a:xfrm>
          <a:prstGeom prst="roundRect">
            <a:avLst>
              <a:gd name="adj" fmla="val 15000"/>
            </a:avLst>
          </a:prstGeom>
          <a:solidFill>
            <a:srgbClr val="0F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back_button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871216"/>
            <a:ext cx="2090057" cy="320040"/>
          </a:xfrm>
          <a:prstGeom prst="roundRect">
            <a:avLst>
              <a:gd name="adj" fmla="val 15000"/>
            </a:avLst>
          </a:prstGeom>
          <a:solidFill>
            <a:srgbClr val="1FA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7121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idle_30s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3346704"/>
            <a:ext cx="1567542" cy="320040"/>
          </a:xfrm>
          <a:prstGeom prst="roundRect">
            <a:avLst>
              <a:gd name="adj" fmla="val 15000"/>
            </a:avLst>
          </a:prstGeom>
          <a:solidFill>
            <a:srgbClr val="2E9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4670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mouse_leave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3822192"/>
            <a:ext cx="1254034" cy="320040"/>
          </a:xfrm>
          <a:prstGeom prst="roundRect">
            <a:avLst>
              <a:gd name="adj" fmla="val 15000"/>
            </a:avLst>
          </a:prstGeom>
          <a:solidFill>
            <a:srgbClr val="3E8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221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tab_switch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4297680"/>
            <a:ext cx="1045028" cy="320040"/>
          </a:xfrm>
          <a:prstGeom prst="roundRect">
            <a:avLst>
              <a:gd name="adj" fmla="val 15000"/>
            </a:avLst>
          </a:prstGeom>
          <a:solidFill>
            <a:srgbClr val="4D7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form_delete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4773168"/>
            <a:ext cx="836022" cy="320040"/>
          </a:xfrm>
          <a:prstGeom prst="roundRect">
            <a:avLst>
              <a:gd name="adj" fmla="val 15000"/>
            </a:avLst>
          </a:prstGeom>
          <a:solidFill>
            <a:srgbClr val="5D6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73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scroll_top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5248656"/>
            <a:ext cx="627017" cy="320040"/>
          </a:xfrm>
          <a:prstGeom prst="roundRect">
            <a:avLst>
              <a:gd name="adj" fmla="val 15000"/>
            </a:avLst>
          </a:prstGeom>
          <a:solidFill>
            <a:srgbClr val="6C4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486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rapid_clicks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7440" y="5724144"/>
            <a:ext cx="522514" cy="32004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241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price_hover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00D4FF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Signals are weighted and combined into a composite risk score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4FF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Booking step acts as a multiplier — later steps mean higher intent and higher recovery priority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4FF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Three intervention thresholds: 0.45 (nudge), 0.65 (assist), 0.80 (urgent save)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4FF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MVP uses heuristic weights; production would use a supervised ML model trained on historical funnel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PILLAR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Proactive AI Chat Concierge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22860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645920" cy="41148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Score 0.45+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Friendly Nudge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4FF"/>
                </a:solidFill>
                <a:latin typeface="Calibri"/>
              </a:defRPr>
            </a:pPr>
            <a:r>
              <a:t>"Need help finding the right flight?"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Low-pressure engagement to offer assistance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1645920" cy="41148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Score 0.65+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Active Assist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749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4FF"/>
                </a:solidFill>
                <a:latin typeface="Calibri"/>
              </a:defRPr>
            </a:pPr>
            <a:r>
              <a:t>"I noticed you're on passenger details — can I help?"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Context-specific help based on funnel step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645920" cy="41148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Score 0.80+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Urgent 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4FF"/>
                </a:solidFill>
                <a:latin typeface="Calibri"/>
              </a:defRPr>
            </a:pPr>
            <a:r>
              <a:t>"Your booking is saved. Want me to help complete it?"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Maximum effort to retain high-intent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 Context Awareness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56032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CBD5E1"/>
                </a:solidFill>
                <a:latin typeface="Calibri"/>
              </a:rPr>
              <a:t>Flight route, airline, and price selected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CBD5E1"/>
                </a:solidFill>
                <a:latin typeface="Calibri"/>
              </a:rPr>
              <a:t>Current booking funnel step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CBD5E1"/>
                </a:solidFill>
                <a:latin typeface="Calibri"/>
              </a:rPr>
              <a:t>Which behavioral signals triggered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CBD5E1"/>
                </a:solidFill>
                <a:latin typeface="Calibri"/>
              </a:rPr>
              <a:t>Price sensitivity vs. form fatigue vs. comparison shopping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CBD5E1"/>
                </a:solidFill>
                <a:latin typeface="Calibri"/>
              </a:rPr>
              <a:t>Adapts tone and strategy per user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PILLAR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Smart Recovery Campaigns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228600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EMAIL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Sample Personalized Recovery 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4FF"/>
                </a:solidFill>
                <a:latin typeface="Calibri"/>
              </a:defRPr>
            </a:pPr>
            <a:r>
              <a:t>"Your Dubai flight at INR 32,000 is still available"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03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&gt;  DEL → DXB  |  AI-205  |  Mar 15,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23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$  INR 32,000  |  Only 3 seats left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26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Deep link back to saved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846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All passenger details pre-filled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166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One-click resume to payment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Campaign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AI generates each message from the specific customer journey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Personalized with route, price, scarcity, and timing signals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Multi-channel: email for detail-rich, SMS for urgency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Deep links restore full session state — zero re-entry friction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CBD5E1"/>
                </a:solidFill>
                <a:latin typeface="Calibri"/>
              </a:rPr>
              <a:t>Targets only high-intent, contactable abandoners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AI-Powered Retention: Beyond the MVP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22860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4114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28600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Highest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346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Abandonment Reason</a:t>
            </a:r>
            <a:br/>
            <a:r>
              <a:t>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118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AI classifies why users leave — price, schedule, policy, trust, payment, or delay — so interventions match the real objection, not just the risk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03120"/>
            <a:ext cx="3383280" cy="4114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228600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High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AI Timing &amp; Channel</a:t>
            </a:r>
            <a:br/>
            <a:r>
              <a:t>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6118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Predicts optimal send time, cadence, and channel (email vs. SMS vs. chat) per abandoner. Fewer, better-timed interventions outperform blanket reminders.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03120"/>
            <a:ext cx="3383280" cy="4114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66760" y="228600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Strategic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346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AI-Assisted Human</a:t>
            </a:r>
            <a:br/>
            <a:r>
              <a:t>Save Desk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6118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For high-value bookings: AI summarizes session, predicts intent, surfaces objections, and recommends talking points — so human agents recover faster.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Estimated Impact of a 4-Hour Price 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1188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  <a:latin typeface="Calibri"/>
              </a:defRPr>
            </a:pPr>
            <a:r>
              <a:t>10,000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Strong-candidate</a:t>
            </a:r>
            <a:br/>
            <a:r>
              <a:t>abandoners / 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468880" cy="1188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Users accepting or</a:t>
            </a:r>
            <a:br/>
            <a:r>
              <a:t>responding to offer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2468880" cy="1188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Incremental recovered</a:t>
            </a:r>
            <a:br/>
            <a:r>
              <a:t>bookings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79" y="1828800"/>
            <a:ext cx="2468880" cy="1188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79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INR 1.13M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79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Net expected monthly</a:t>
            </a:r>
            <a:br/>
            <a:r>
              <a:t>revenue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37560"/>
            <a:ext cx="4663440" cy="21031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520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Assumptions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86200"/>
            <a:ext cx="4206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20% of abandoners qualify for a 4-hour fare hold → 10,000 users/month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8% accept or meaningfully respond → 800 treated users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Baseline conversion for this subgroup = 20% → 160 bookings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Price lock adds 12 percentage points → 32% treated conversion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Average booking value = INR 12,000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3337560"/>
            <a:ext cx="5577840" cy="21031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3520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Expected-Value Calculation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9136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E(RevenueChange) = Revenue increase from recovered bookings - Locked-fare downside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2611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Recovered revenue: 96 x INR 12,000 = INR 1,152,000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6085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Fare-lock downside: 160 x (15% x INR 1,000) = INR 24,000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9560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Net monthly expected value: INR 1,152,000 - INR 24,000 = INR 1,128,000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623560"/>
            <a:ext cx="10515600" cy="685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97296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Interpretation: under these assumptions, the 4-hour price lock has a strongly positive expected value. The upside from 96 incremental recovered bookings materially outweighs the expected fare movement given up on bookings that would likely have happened anyway.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Estimated Impact of Booking-Recovery Campaigns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228600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1188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15,000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High-intent and</a:t>
            </a:r>
            <a:br/>
            <a:r>
              <a:t>contactable users / 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468880" cy="1188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Recovery rate across</a:t>
            </a:r>
            <a:br/>
            <a:r>
              <a:t>email, SMS, and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2468880" cy="1188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  <a:latin typeface="Calibri"/>
              </a:defRPr>
            </a:pPr>
            <a:r>
              <a:t>450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Incremental recovered</a:t>
            </a:r>
            <a:br/>
            <a:r>
              <a:t>bookings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79" y="1828800"/>
            <a:ext cx="2468880" cy="1188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79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INR 5.40M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79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Estimated gross booking</a:t>
            </a:r>
            <a:br/>
            <a:r>
              <a:t>value recovered / month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37560"/>
            <a:ext cx="4663440" cy="21031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5204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Assumptions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86200"/>
            <a:ext cx="4206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30% of abandoned sessions are high-intent and contactable → 15,000 users/month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Email, SMS, and chat journeys recover 3% of that audience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Recovered bookings: 15,000 x 3% = 450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Average booking value = INR 12,000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Recovered gross booking value: 450 x INR 12,000 = INR 5,400,000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3337560"/>
            <a:ext cx="5577840" cy="21031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3520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Why Campaigns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886200"/>
            <a:ext cx="4846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Campaigns reach a larger portion of abandoners than fare-lock offers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They address distraction, form fatigue, comparison shopping, payment hesitation, and delayed decisions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They compound with saved sessions, proactive chat, and deep-link resume 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623560"/>
            <a:ext cx="10515600" cy="685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797296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Interpretation: campaigns produce materially larger revenue impact because they address a broader set of abandonment causes across a much larger reachable audience.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Comparison: Price Lock vs. Recovery Campaigns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2286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  <a:latin typeface="Calibri"/>
              </a:defRPr>
            </a:pPr>
            <a:r>
              <a:t>INR 1.13M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4-hour price lock</a:t>
            </a:r>
            <a:br/>
            <a:r>
              <a:t>net expected value / 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29184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057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INR 5.40M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651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Recovery campaigns</a:t>
            </a:r>
            <a:br/>
            <a:r>
              <a:t>value recovered / 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29184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057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4.8x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651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Campaign impact vs.</a:t>
            </a:r>
            <a:br/>
            <a:r>
              <a:t>price lock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493776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490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Why the Gap Is Reasonable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59E0B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Price lock is relevant only for users whose main barrier is fare volatility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59E0B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Campaigns address a much larger pool of abandonment causes across the funnel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59E0B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Price lock is best treated as one tactic inside the larger recovery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56616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Strategic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251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The larger revenue upside comes from recovering abandoned bookings at scale through proactive chat and post-abandonment outreach.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754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Combined modeled opportunity: INR 6.53M/month, with campaigns contributing the majority of the upside.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TECHNICAL MATURITY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MVP Assumptions vs. Production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2286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RISK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762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MVP: Heuristic weights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Prod: Supervised ML model on historical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529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EVENT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MVP: 10 browser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55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Prod: Rich event taxonomy + device/channel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856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416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MVP: Static demo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885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Prod: Live airline PSS/NDC API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183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743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MVP: Browser session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212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Prod: Server tokens + CRM/CDP identity stitching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50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AI PROMISES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0702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MVP: Mentions unverified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539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Prod: Policy + tool-calling layer with verified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ABANDONMENT DEF.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1762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MVP: Score threshold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423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Prod: Business rules: inactivity + step + payment + suppression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8529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RECOVERY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MVP: Simulated (SQLite log)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355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Prod: ESP/SMS providers + delivery/open/click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7856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PRICE 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416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MVP: Assumed 4hr hold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2885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Prod: Real fare-lock via pricing/inventory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7183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CHECKOUT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9743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MVP: Simulated conversion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2212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Prod: Payment gateway + PNR creation + ticketing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650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PII HANDLING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90702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MVP: Local DB, no encryption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61539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Prod: Encrypted, tokenized, consent-aware, auditable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AirWave AI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965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Real-Time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10+ behavioral signals scored in real-time to catch abandonment before it happens — not after.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63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AI-Powered, Context-Aware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The concierge knows the flight, the price, the step, and the reason for hesitation. It adapts — not a scripted chatbot.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2062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160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Recover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Personalized multi-channel campaigns with deep links that restore full session state. Zero-friction re-entry.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303519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257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Measurable Revenue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6692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Estimated INR 6.5M+/month in recovered bookings. Recovery campaigns alone deliver about 4.8x more than price lock.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D4FF"/>
                </a:solidFill>
                <a:latin typeface="Calibri"/>
              </a:defRPr>
            </a:pPr>
            <a:r>
              <a:t>"A 4-hour price lock is a useful conversion aid, but the larger revenue upside comes from recovering abandoned bookings at scale through proactive chat and post-abandonment outreach."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